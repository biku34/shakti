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 P2P energy trading + REC fraud detection. Shared source of truth prevents double-selling energy and over-claiming RECs.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export event backs both the tradable surplus and REC issuance — structurally prevents double counting.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 with swappable strategy interfaces; trust and keys stay server-side.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Six-step pipeline; guardrails: audit log, RBAC, live anomaly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 engine R-01..R-08 + R-09 statistical anomaly (robust modified z-score); optional Groq and Gemini passes with deterministic fallbacks.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roles with RBAC-scoped APIs and dashboards: prosumer, consumer, utility, regulator, certificate body, auditor.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C demo: stream -&gt; offer -&gt; settle -&gt; issue REC -&gt; detect fault -&gt; revoke &amp; verify on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value pillars — integrity, proof, fairness,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640080"/>
            <a:ext cx="1554480" cy="1554480"/>
          </a:xfrm>
          <a:prstGeom prst="ellipse">
            <a:avLst/>
          </a:prstGeom>
          <a:solidFill>
            <a:srgbClr val="0E7F5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5720"/>
            <a:ext cx="822960" cy="822960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4" name="Shape 2"/>
          <p:cNvSpPr/>
          <p:nvPr/>
        </p:nvSpPr>
        <p:spPr>
          <a:xfrm>
            <a:off x="9281160" y="1600200"/>
            <a:ext cx="502920" cy="50292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5212080"/>
            <a:ext cx="1097280" cy="1097280"/>
          </a:xfrm>
          <a:prstGeom prst="ellipse">
            <a:avLst/>
          </a:prstGeom>
          <a:solidFill>
            <a:srgbClr val="10362C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5760720"/>
            <a:ext cx="640080" cy="640080"/>
          </a:xfrm>
          <a:prstGeom prst="ellipse">
            <a:avLst/>
          </a:prstGeom>
          <a:solidFill>
            <a:srgbClr val="0E7F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C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· INTELLIGENCE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783080"/>
            <a:ext cx="10241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verified truth.</a:t>
            </a:r>
            <a:endParaRPr lang="en-US" sz="54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trusted markets.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86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P2P energy-trading marketplace and REC fraud-detection system on one stack — where a single metered solar-export event backs both the tradable surplus and every renewable certificate.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22960" y="5257800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0362C"/>
          </a:solidFill>
          <a:ln w="12700">
            <a:solidFill>
              <a:srgbClr val="18B4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578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525780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10362C"/>
          </a:solidFill>
          <a:ln w="12700">
            <a:solidFill>
              <a:srgbClr val="18B47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52578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20640" y="52578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10362C"/>
          </a:solidFill>
          <a:ln w="12700">
            <a:solidFill>
              <a:srgbClr val="18B47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52578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Amoy anchor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525780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0362C"/>
          </a:solidFill>
          <a:ln w="12700">
            <a:solidFill>
              <a:srgbClr val="F4C5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5257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Gemini AI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source of truth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rooftop-solar generation is verified once — then drives everything downstream.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3246120" cy="2514600"/>
          </a:xfrm>
          <a:prstGeom prst="roundRect">
            <a:avLst>
              <a:gd name="adj" fmla="val 5091"/>
            </a:avLst>
          </a:prstGeom>
          <a:solidFill>
            <a:srgbClr val="0B211B"/>
          </a:solidFill>
          <a:ln/>
          <a:effectLst>
            <a:outerShdw sx="100000" sy="100000" kx="0" ky="0" algn="bl" rotWithShape="0" blurRad="114300" dist="38100" dir="5400000">
              <a:srgbClr val="8CA79C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468880"/>
            <a:ext cx="777240" cy="777240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kWh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export event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smart-meter reading, validated on ingestion against the §7.3 contract.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23360" y="2880360"/>
            <a:ext cx="1051560" cy="-320040"/>
          </a:xfrm>
          <a:prstGeom prst="line">
            <a:avLst/>
          </a:prstGeom>
          <a:noFill/>
          <a:ln w="31750">
            <a:solidFill>
              <a:srgbClr val="0E7F5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23360" y="3977640"/>
            <a:ext cx="1051560" cy="320040"/>
          </a:xfrm>
          <a:prstGeom prst="line">
            <a:avLst/>
          </a:prstGeom>
          <a:noFill/>
          <a:ln w="31750">
            <a:solidFill>
              <a:srgbClr val="0E7F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783080"/>
            <a:ext cx="6172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88900" dist="25400" dir="5400000">
              <a:srgbClr val="9CB3AA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04688" y="2167128"/>
            <a:ext cx="822960" cy="82296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20391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8B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Tradable surplus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7432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P2P order book — dynamic pricing, matching &amp; credit settlement per feeder.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3566160"/>
            <a:ext cx="61722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88900" dist="25400" dir="5400000">
              <a:srgbClr val="9CB3AA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04688" y="3950208"/>
            <a:ext cx="822960" cy="822960"/>
          </a:xfrm>
          <a:prstGeom prst="ellipse">
            <a:avLst/>
          </a:prstGeom>
          <a:solidFill>
            <a:srgbClr val="0E7F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069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 basis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5262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certificate issuance and every fraud check — reserved readings can't be reused.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507492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1036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507492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C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pPr indent="0" marL="0">
              <a:buNone/>
            </a:pPr>
            <a:r>
              <a:rPr lang="en-US" sz="15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can't be double-sold, and RECs can't be over-claimed — the same kWh is never counted twice.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layered, swappable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by design — no browser web3, one Next.js app for UI and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72237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391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8B4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984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15 · TypeScript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3042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UI + 57 API routes; six role dashboards.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72237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9535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0E7F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535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28986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Atlas · Mongoose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32186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models — one per SRS collection.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72237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8679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C8F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679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38130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Polygon Amoy · viem + Alchemy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1330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content-hash anchoring, mock fallback.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617720"/>
            <a:ext cx="72237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7823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3C7A5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7823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47274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In-process Node simulator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103120" y="50474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meters stream the §7.3 ingest contract.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5532120"/>
            <a:ext cx="72237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6967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4C5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69671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56418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 + stats + Groq + Gemini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103120" y="596188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 R-01–R-09 detection, agentic review.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1874520"/>
            <a:ext cx="3200400" cy="4398264"/>
          </a:xfrm>
          <a:prstGeom prst="roundRect">
            <a:avLst>
              <a:gd name="adj" fmla="val 4000"/>
            </a:avLst>
          </a:prstGeom>
          <a:solidFill>
            <a:srgbClr val="0B211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4964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C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49640" y="2697480"/>
            <a:ext cx="201168" cy="2011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869680" y="25786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Swappable interfaces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294436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pricing → Groq agent with zero caller changes.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49640" y="3904488"/>
            <a:ext cx="201168" cy="2011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9680" y="37856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off the client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869680" y="415137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&amp; keys never touch the browser.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5111496"/>
            <a:ext cx="201168" cy="2011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869680" y="49926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Traceable to spec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535838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/ BC / SEC tags live in the code.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photons to a verified trade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writes to the same audited ledger — and ends on-chain.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5004" y="2404872"/>
            <a:ext cx="640080" cy="6400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75004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reading streamed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36292" y="3291840"/>
            <a:ext cx="109728" cy="0"/>
          </a:xfrm>
          <a:prstGeom prst="line">
            <a:avLst/>
          </a:prstGeom>
          <a:noFill/>
          <a:ln w="25400">
            <a:solidFill>
              <a:srgbClr val="F4C54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50592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67228" y="2404872"/>
            <a:ext cx="640080" cy="6400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967228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42032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the §7.3 contract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28516" y="3291840"/>
            <a:ext cx="109728" cy="0"/>
          </a:xfrm>
          <a:prstGeom prst="line">
            <a:avLst/>
          </a:prstGeom>
          <a:noFill/>
          <a:ln w="25400">
            <a:solidFill>
              <a:srgbClr val="F4C5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42816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9452" y="2404872"/>
            <a:ext cx="640080" cy="6400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9452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34256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370832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clearing per feeder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20740" y="3291840"/>
            <a:ext cx="109728" cy="0"/>
          </a:xfrm>
          <a:prstGeom prst="line">
            <a:avLst/>
          </a:prstGeom>
          <a:noFill/>
          <a:ln w="25400">
            <a:solidFill>
              <a:srgbClr val="F4C54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35040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1676" y="2404872"/>
            <a:ext cx="640080" cy="6400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51676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163056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settles in credits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12964" y="3291840"/>
            <a:ext cx="109728" cy="0"/>
          </a:xfrm>
          <a:prstGeom prst="line">
            <a:avLst/>
          </a:prstGeom>
          <a:noFill/>
          <a:ln w="25400">
            <a:solidFill>
              <a:srgbClr val="F4C5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27264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43900" y="2404872"/>
            <a:ext cx="640080" cy="6400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43900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918704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REC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reserved readings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505188" y="3291840"/>
            <a:ext cx="109728" cy="0"/>
          </a:xfrm>
          <a:prstGeom prst="line">
            <a:avLst/>
          </a:prstGeom>
          <a:noFill/>
          <a:ln w="25400">
            <a:solidFill>
              <a:srgbClr val="F4C5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619488" y="2148840"/>
            <a:ext cx="1673352" cy="2286000"/>
          </a:xfrm>
          <a:prstGeom prst="roundRect">
            <a:avLst>
              <a:gd name="adj" fmla="val 6557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36124" y="2404872"/>
            <a:ext cx="640080" cy="640080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136124" y="2404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710928" y="3172968"/>
            <a:ext cx="14904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747504" y="3593592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 on Polygon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" y="4892040"/>
            <a:ext cx="10844784" cy="1234440"/>
          </a:xfrm>
          <a:prstGeom prst="roundRect">
            <a:avLst>
              <a:gd name="adj" fmla="val 8889"/>
            </a:avLst>
          </a:prstGeom>
          <a:solidFill>
            <a:srgbClr val="10362C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1560" y="5230368"/>
            <a:ext cx="548640" cy="54864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5156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 txBox="1"/>
          <p:nvPr/>
        </p:nvSpPr>
        <p:spPr>
          <a:xfrm>
            <a:off x="1764792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Append-only audit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764792" y="5541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logged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17720" y="5230368"/>
            <a:ext cx="548640" cy="54864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1772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5330952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5330952" y="5541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scoped APIs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83880" y="5230368"/>
            <a:ext cx="548640" cy="54864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83880" y="5230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8897112" y="5193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armed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897112" y="5541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faults raise alerts live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Intelligence, layered for trust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first; statistics and AI add depth without becoming the single point of failure.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572000" cy="1965960"/>
          </a:xfrm>
          <a:prstGeom prst="roundRect">
            <a:avLst>
              <a:gd name="adj" fmla="val 6512"/>
            </a:avLst>
          </a:prstGeom>
          <a:solidFill>
            <a:srgbClr val="0B211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C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· §9.1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8B4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clamp( base · (1 + α(D/S − 1) + β·c),  floor, ceiling 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461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Supply/demand ratio and feeder congestion move the clearing price — bounded by the FiT floor and retail ceiling.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457200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224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7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PASSES (optional, with fallbacks)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4645152"/>
            <a:ext cx="219456" cy="219456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4526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agentic review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8737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fraud triage + per-REC evidence check on un-anchored certs.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5468112"/>
            <a:ext cx="219456" cy="219456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5349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recommendations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6967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Feeder-congestion priority actions; deterministic rank if no key.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RULES · R-01 → R-09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228600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51576" y="241401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R-01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751576" y="279806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&gt; metered export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80376" y="228600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08392" y="241401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08392" y="279806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backing window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37192" y="228600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65208" y="241401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665208" y="279806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physical capacity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23560" y="356616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51576" y="369417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R-04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5751576" y="407822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while offline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80376" y="356616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08392" y="369417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R-05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708392" y="407822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at night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537192" y="356616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65208" y="369417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R-06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665208" y="407822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backing sum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23560" y="484632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51576" y="497433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R-07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751576" y="53583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issuance rate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80376" y="484632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08392" y="497433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R-08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7708392" y="53583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feeders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537192" y="4846320"/>
            <a:ext cx="1847088" cy="1170432"/>
          </a:xfrm>
          <a:prstGeom prst="roundRect">
            <a:avLst>
              <a:gd name="adj" fmla="val 7813"/>
            </a:avLst>
          </a:prstGeom>
          <a:solidFill>
            <a:srgbClr val="10362C"/>
          </a:solidFill>
          <a:ln w="12700">
            <a:solidFill>
              <a:srgbClr val="18B47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65208" y="4974336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C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R-09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9665208" y="5358384"/>
            <a:ext cx="159105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z-score outlier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roles, one ledger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scopes every API — each actor sees only what their job needs, on its own dashboard.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9424"/>
            <a:ext cx="868680" cy="86868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249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221284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Prosumer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029968" y="267004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midday surplus, requests RECs, owns bidirectional 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7408" y="1920240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249424"/>
            <a:ext cx="868680" cy="868680"/>
          </a:xfrm>
          <a:prstGeom prst="ellipse">
            <a:avLst/>
          </a:prstGeom>
          <a:solidFill>
            <a:srgbClr val="0E7F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81728" y="2249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705856" y="221284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705856" y="267004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bids and buys energy, settled in credits.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249424"/>
            <a:ext cx="868680" cy="868680"/>
          </a:xfrm>
          <a:prstGeom prst="ellipse">
            <a:avLst/>
          </a:prstGeom>
          <a:solidFill>
            <a:srgbClr val="1C8F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249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381744" y="2212848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81744" y="2670048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feeder load &amp; congestion; gets AI priority actions.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94176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023360"/>
            <a:ext cx="868680" cy="868680"/>
          </a:xfrm>
          <a:prstGeom prst="ellipse">
            <a:avLst/>
          </a:prstGeom>
          <a:solidFill>
            <a:srgbClr val="C77D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023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2029968" y="398678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2029968" y="4443984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fraud alerts and revokes fraudulent RECs.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7408" y="3694176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4023360"/>
            <a:ext cx="868680" cy="868680"/>
          </a:xfrm>
          <a:prstGeom prst="ellipse">
            <a:avLst/>
          </a:prstGeom>
          <a:solidFill>
            <a:srgbClr val="3C7A5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81728" y="4023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5705856" y="398678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Body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705856" y="4443984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 issuance queue; runs per-REC evidence review.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83296" y="3694176"/>
            <a:ext cx="349300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AE5"/>
            </a:solidFill>
            <a:prstDash val="solid"/>
          </a:ln>
          <a:effectLst>
            <a:outerShdw sx="100000" sy="100000" kx="0" ky="0" algn="bl" rotWithShape="0" blurRad="76200" dist="25400" dir="5400000">
              <a:srgbClr val="9CB3AA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7616" y="4023360"/>
            <a:ext cx="868680" cy="868680"/>
          </a:xfrm>
          <a:prstGeom prst="ellipse">
            <a:avLst/>
          </a:prstGeom>
          <a:solidFill>
            <a:srgbClr val="5B6E9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7616" y="4023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381744" y="3986784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381744" y="4443984"/>
            <a:ext cx="20299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provenance against the chain; exports the audit log.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demo, end to end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actions turn streamed meter data into settled trades, issued RECs, and a caught fraud.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234440" y="3794760"/>
            <a:ext cx="9646920" cy="0"/>
          </a:xfrm>
          <a:prstGeom prst="line">
            <a:avLst/>
          </a:prstGeom>
          <a:noFill/>
          <a:ln w="25400">
            <a:solidFill>
              <a:srgbClr val="0E7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" y="3465576"/>
            <a:ext cx="658368" cy="6583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05256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1752" y="1874520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2002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9768" y="2386584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meter — readings flow, feeder load &amp; congestion update.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3291840"/>
            <a:ext cx="0" cy="173736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3465576"/>
            <a:ext cx="658368" cy="6583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34640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31136" y="4315968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40864" y="4443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59152" y="4828032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Prosumer lists midday surplus on the feeder order book.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63824" y="3794760"/>
            <a:ext cx="0" cy="521208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3465576"/>
            <a:ext cx="658368" cy="6583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64024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60520" y="1874520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2002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288536" y="2386584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bids; matching clears trades in credits, each anchored.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93208" y="3291840"/>
            <a:ext cx="0" cy="173736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3408" y="3465576"/>
            <a:ext cx="658368" cy="6583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93408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089904" y="4315968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4443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4828032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requested, approved from the queue, issued &amp; anchored.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22592" y="3794760"/>
            <a:ext cx="0" cy="521208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22792" y="3465576"/>
            <a:ext cx="658368" cy="658368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22792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19288" y="1874520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29016" y="200253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B4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2386584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 fault — R-01–R-09 rules raise a fraud alert live.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51976" y="3291840"/>
            <a:ext cx="0" cy="173736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52176" y="3465576"/>
            <a:ext cx="658368" cy="658368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552176" y="34655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948672" y="4315968"/>
            <a:ext cx="1865376" cy="1417320"/>
          </a:xfrm>
          <a:prstGeom prst="roundRect">
            <a:avLst>
              <a:gd name="adj" fmla="val 6452"/>
            </a:avLst>
          </a:prstGeom>
          <a:solidFill>
            <a:srgbClr val="10362C"/>
          </a:solidFill>
          <a:ln w="12700">
            <a:solidFill>
              <a:srgbClr val="0E7F5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058400" y="444398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C5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10076688" y="4828032"/>
            <a:ext cx="16093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 revokes; auditor checks provenance on-chain.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881360" y="3794760"/>
            <a:ext cx="0" cy="521208"/>
          </a:xfrm>
          <a:prstGeom prst="line">
            <a:avLst/>
          </a:prstGeom>
          <a:noFill/>
          <a:ln w="19050">
            <a:solidFill>
              <a:srgbClr val="0E7F5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"/>
            <a:ext cx="1554480" cy="1554480"/>
          </a:xfrm>
          <a:prstGeom prst="ellipse">
            <a:avLst/>
          </a:prstGeom>
          <a:solidFill>
            <a:srgbClr val="0E7F5A"/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-91440"/>
            <a:ext cx="822960" cy="822960"/>
          </a:xfrm>
          <a:prstGeom prst="ellipse">
            <a:avLst/>
          </a:prstGeom>
          <a:solidFill>
            <a:srgbClr val="F4C54A"/>
          </a:solidFill>
          <a:ln/>
        </p:spPr>
      </p:sp>
      <p:sp>
        <p:nvSpPr>
          <p:cNvPr id="4" name="Shape 2"/>
          <p:cNvSpPr/>
          <p:nvPr/>
        </p:nvSpPr>
        <p:spPr>
          <a:xfrm>
            <a:off x="9555480" y="1463040"/>
            <a:ext cx="502920" cy="502920"/>
          </a:xfrm>
          <a:prstGeom prst="ellipse">
            <a:avLst/>
          </a:prstGeom>
          <a:solidFill>
            <a:srgbClr val="18B4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wins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14813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isn't a feature bolted on — it's how the system is built.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0362C"/>
          </a:solidFill>
          <a:ln/>
        </p:spPr>
      </p:sp>
      <p:sp>
        <p:nvSpPr>
          <p:cNvPr id="8" name="Shape 6"/>
          <p:cNvSpPr/>
          <p:nvPr/>
        </p:nvSpPr>
        <p:spPr>
          <a:xfrm>
            <a:off x="1033272" y="25420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8B4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3272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0906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double-counting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3767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kilowatt-hour is never sold or certified twice.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0440" y="22860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0362C"/>
          </a:solidFill>
          <a:ln/>
        </p:spPr>
      </p:sp>
      <p:sp>
        <p:nvSpPr>
          <p:cNvPr id="13" name="Shape 11"/>
          <p:cNvSpPr/>
          <p:nvPr/>
        </p:nvSpPr>
        <p:spPr>
          <a:xfrm>
            <a:off x="3776472" y="25420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4C5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76472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76472" y="30906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verifiable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3767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and certificate is anchored and provable by anyone.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2860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0362C"/>
          </a:solidFill>
          <a:ln/>
        </p:spPr>
      </p:sp>
      <p:sp>
        <p:nvSpPr>
          <p:cNvPr id="18" name="Shape 16"/>
          <p:cNvSpPr/>
          <p:nvPr/>
        </p:nvSpPr>
        <p:spPr>
          <a:xfrm>
            <a:off x="6519672" y="25420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C8F8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19672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30906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bounded pricing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767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prices track real supply, demand and grid stress.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286000"/>
            <a:ext cx="2514600" cy="2057400"/>
          </a:xfrm>
          <a:prstGeom prst="roundRect">
            <a:avLst>
              <a:gd name="adj" fmla="val 6222"/>
            </a:avLst>
          </a:prstGeom>
          <a:solidFill>
            <a:srgbClr val="10362C"/>
          </a:solidFill>
          <a:ln/>
        </p:spPr>
      </p:sp>
      <p:sp>
        <p:nvSpPr>
          <p:cNvPr id="23" name="Shape 21"/>
          <p:cNvSpPr/>
          <p:nvPr/>
        </p:nvSpPr>
        <p:spPr>
          <a:xfrm>
            <a:off x="9262872" y="2542032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5B8F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62872" y="2542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262872" y="309067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Accountable by design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3767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access and an end-to-end trail from meter to market.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663440"/>
            <a:ext cx="10607040" cy="1463040"/>
          </a:xfrm>
          <a:prstGeom prst="roundRect">
            <a:avLst>
              <a:gd name="adj" fmla="val 8750"/>
            </a:avLst>
          </a:prstGeom>
          <a:solidFill>
            <a:srgbClr val="0E7F5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" y="48463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stack. One truth. Two markets that can't be gamed.</a:t>
            </a:r>
            <a:endParaRPr lang="en-US" sz="25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50468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solar, traded and certified — verifiable by anyone, over-claimed by no 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2026-09-13T04:39:28Z</dcterms:created>
  <dcterms:modified xsi:type="dcterms:W3CDTF">2026-09-13T04:39:28Z</dcterms:modified>
</cp:coreProperties>
</file>