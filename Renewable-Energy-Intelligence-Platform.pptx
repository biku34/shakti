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725797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Integrated P2P energy trading + REC fraud detection. Shared source of truth prevents double-selling energy and over-claiming RECs.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export event backs both the tradable surplus and REC issuance — structurally prevents double counting.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Layered architecture with swappable strategy interfaces; trust and keys stay server-side.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Six-step pipeline; guardrails: audit log, RBAC, live anomaly detection.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 engine R-01..R-08 + R-09 statistical anomaly (robust modified z-score); optional Groq and Gemini passes with deterministic fallbacks.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roles with RBAC-scoped APIs and dashboards: prosumer, consumer, utility, regulator, certificate body, auditor.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 C demo: stream -&gt; offer -&gt; settle -&gt; issue REC -&gt; detect fault -&gt; revoke &amp; verify on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Closing: value pillars — integrity, proof, fairness, oversight.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1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0" y="640080"/>
            <a:ext cx="1554480" cy="1554480"/>
          </a:xfrm>
          <a:prstGeom prst="ellipse">
            <a:avLst/>
          </a:prstGeom>
          <a:solidFill>
            <a:srgbClr val="0E7F5A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5720"/>
            <a:ext cx="822960" cy="822960"/>
          </a:xfrm>
          <a:prstGeom prst="ellipse">
            <a:avLst/>
          </a:prstGeom>
          <a:solidFill>
            <a:srgbClr val="F4C54A"/>
          </a:solidFill>
          <a:ln/>
        </p:spPr>
      </p:sp>
      <p:sp>
        <p:nvSpPr>
          <p:cNvPr id="4" name="Shape 2"/>
          <p:cNvSpPr/>
          <p:nvPr/>
        </p:nvSpPr>
        <p:spPr>
          <a:xfrm>
            <a:off x="9281160" y="1600200"/>
            <a:ext cx="502920" cy="502920"/>
          </a:xfrm>
          <a:prstGeom prst="ellipse">
            <a:avLst/>
          </a:prstGeom>
          <a:solidFill>
            <a:srgbClr val="18B47E"/>
          </a:solidFill>
          <a:ln/>
        </p:spPr>
      </p:sp>
      <p:sp>
        <p:nvSpPr>
          <p:cNvPr id="5" name="Shape 3"/>
          <p:cNvSpPr/>
          <p:nvPr/>
        </p:nvSpPr>
        <p:spPr>
          <a:xfrm>
            <a:off x="10881360" y="5212080"/>
            <a:ext cx="1097280" cy="1097280"/>
          </a:xfrm>
          <a:prstGeom prst="ellipse">
            <a:avLst/>
          </a:prstGeom>
          <a:solidFill>
            <a:srgbClr val="10362C"/>
          </a:solidFill>
          <a:ln/>
        </p:spPr>
      </p:sp>
      <p:sp>
        <p:nvSpPr>
          <p:cNvPr id="6" name="Shape 4"/>
          <p:cNvSpPr/>
          <p:nvPr/>
        </p:nvSpPr>
        <p:spPr>
          <a:xfrm>
            <a:off x="182880" y="5760720"/>
            <a:ext cx="640080" cy="640080"/>
          </a:xfrm>
          <a:prstGeom prst="ellipse">
            <a:avLst/>
          </a:prstGeom>
          <a:solidFill>
            <a:srgbClr val="0E7F5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2344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F4C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RENEWABLE ENERGY · INTELLIGENCE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1783080"/>
            <a:ext cx="102412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58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verified truth.</a:t>
            </a:r>
            <a:endParaRPr lang="en-US" sz="5400" dirty="0"/>
          </a:p>
          <a:p>
            <a:pPr marL="0" indent="0">
              <a:lnSpc>
                <a:spcPts val="5800"/>
              </a:lnSpc>
              <a:buNone/>
            </a:pPr>
            <a:r>
              <a:rPr lang="en-US" sz="5400" b="1" dirty="0">
                <a:solidFill>
                  <a:srgbClr val="18B4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trusted markets.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886200"/>
            <a:ext cx="7863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650" dirty="0">
                <a:solidFill>
                  <a:srgbClr val="CFE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P2P energy-trading marketplace and REC fraud-detection system on one stack — where a single metered solar-export event backs both the tradable surplus and every renewable certificate.</a:t>
            </a:r>
            <a:endParaRPr lang="en-US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2705877" y="5271796"/>
            <a:ext cx="39095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FE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 - </a:t>
            </a:r>
            <a:r>
              <a:rPr lang="en-US" sz="2000" b="1" dirty="0" err="1">
                <a:solidFill>
                  <a:srgbClr val="CFE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ABnity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1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shared source of truth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17043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E71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Metered rooftop-solar generation is verified once — then drives everything downstream.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31520" y="2148839"/>
            <a:ext cx="3246120" cy="2670045"/>
          </a:xfrm>
          <a:prstGeom prst="roundRect">
            <a:avLst>
              <a:gd name="adj" fmla="val 5091"/>
            </a:avLst>
          </a:prstGeom>
          <a:solidFill>
            <a:srgbClr val="0B211B"/>
          </a:solidFill>
          <a:ln/>
          <a:effectLst>
            <a:outerShdw blurRad="114300" dist="38100" dir="5400000" algn="bl" rotWithShape="0">
              <a:srgbClr val="8CA79C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51560" y="2468880"/>
            <a:ext cx="777240" cy="777240"/>
          </a:xfrm>
          <a:prstGeom prst="ellipse">
            <a:avLst/>
          </a:prstGeom>
          <a:solidFill>
            <a:srgbClr val="F4C5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51560" y="24688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21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kWh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4290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Verified export event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88620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CFE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 smart-meter reading, validated on ingestion against the §7.3 contract.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023360" y="2880360"/>
            <a:ext cx="1051560" cy="0"/>
          </a:xfrm>
          <a:prstGeom prst="line">
            <a:avLst/>
          </a:prstGeom>
          <a:noFill/>
          <a:ln w="31750">
            <a:solidFill>
              <a:srgbClr val="0E7F5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023360" y="3977640"/>
            <a:ext cx="1051560" cy="320040"/>
          </a:xfrm>
          <a:prstGeom prst="line">
            <a:avLst/>
          </a:prstGeom>
          <a:noFill/>
          <a:ln w="31750">
            <a:solidFill>
              <a:srgbClr val="0E7F5A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212080" y="1783080"/>
            <a:ext cx="61722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1EAE5"/>
            </a:solidFill>
            <a:prstDash val="solid"/>
          </a:ln>
          <a:effectLst>
            <a:outerShdw blurRad="88900" dist="25400" dir="5400000" algn="bl" rotWithShape="0">
              <a:srgbClr val="9CB3AA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504688" y="2167128"/>
            <a:ext cx="822960" cy="822960"/>
          </a:xfrm>
          <a:prstGeom prst="ellipse">
            <a:avLst/>
          </a:prstGeom>
          <a:solidFill>
            <a:srgbClr val="18B47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203911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18B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228600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E1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Tradable surplus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6537960" y="274320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5E71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 the P2P order book — dynamic pricing, matching &amp; credit settlement per feeder.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212080" y="3566160"/>
            <a:ext cx="61722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1EAE5"/>
            </a:solidFill>
            <a:prstDash val="solid"/>
          </a:ln>
          <a:effectLst>
            <a:outerShdw blurRad="88900" dist="25400" dir="5400000" algn="bl" rotWithShape="0">
              <a:srgbClr val="9CB3AA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504688" y="3950208"/>
            <a:ext cx="822960" cy="822960"/>
          </a:xfrm>
          <a:prstGeom prst="ellipse">
            <a:avLst/>
          </a:prstGeom>
          <a:solidFill>
            <a:srgbClr val="0E7F5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37960" y="382219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0E7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DETECTION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537960" y="4069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E1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 basis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452628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300" dirty="0">
                <a:solidFill>
                  <a:srgbClr val="5E71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Backs certificate issuance and every fraud check — reserved readings can't be reused.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1520" y="5364173"/>
            <a:ext cx="10698480" cy="960120"/>
          </a:xfrm>
          <a:prstGeom prst="roundRect">
            <a:avLst>
              <a:gd name="adj" fmla="val 11429"/>
            </a:avLst>
          </a:prstGeom>
          <a:solidFill>
            <a:srgbClr val="10362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89817" y="5303519"/>
            <a:ext cx="100584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4C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result:  </a:t>
            </a:r>
            <a:r>
              <a:rPr lang="en-US" sz="1550" dirty="0">
                <a:solidFill>
                  <a:srgbClr val="CFE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can't be double-sold, and RECs can't be over-claimed — the same kWh is never counted twice.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1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layered, swappable stack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17043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E71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by design — no browser web3, one Next.js app for UI and API.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722376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1EA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039112"/>
            <a:ext cx="1051560" cy="457200"/>
          </a:xfrm>
          <a:prstGeom prst="roundRect">
            <a:avLst>
              <a:gd name="adj" fmla="val 16000"/>
            </a:avLst>
          </a:prstGeom>
          <a:solidFill>
            <a:srgbClr val="18B47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03911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103120" y="1984248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1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Next.js 15 · TypeScript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103120" y="2304288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E71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Router UI + 57 API routes; six role dashboards.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2788920"/>
            <a:ext cx="722376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1EA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2953512"/>
            <a:ext cx="1051560" cy="457200"/>
          </a:xfrm>
          <a:prstGeom prst="roundRect">
            <a:avLst>
              <a:gd name="adj" fmla="val 16000"/>
            </a:avLst>
          </a:prstGeom>
          <a:solidFill>
            <a:srgbClr val="0E7F5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295351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103120" y="2898648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1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MongoDB Atlas · Mongoose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103120" y="3218688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E71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models — one per SRS collection.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3703320"/>
            <a:ext cx="722376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1EA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8680" y="3867912"/>
            <a:ext cx="1051560" cy="457200"/>
          </a:xfrm>
          <a:prstGeom prst="roundRect">
            <a:avLst>
              <a:gd name="adj" fmla="val 16000"/>
            </a:avLst>
          </a:prstGeom>
          <a:solidFill>
            <a:srgbClr val="1C8F8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386791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103120" y="3813048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1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Polygon Amoy · viem + Alchemy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2103120" y="4133088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E71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content-hash anchoring, mock fallback.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31520" y="4617720"/>
            <a:ext cx="722376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1EA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68680" y="4782312"/>
            <a:ext cx="1051560" cy="457200"/>
          </a:xfrm>
          <a:prstGeom prst="roundRect">
            <a:avLst>
              <a:gd name="adj" fmla="val 16000"/>
            </a:avLst>
          </a:prstGeom>
          <a:solidFill>
            <a:srgbClr val="3C7A5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68680" y="478231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METER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103120" y="4727448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1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In-process Node simulator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2103120" y="5047488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E71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 meters stream the §7.3 ingest contract.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31520" y="5532120"/>
            <a:ext cx="722376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1EAE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68680" y="5696712"/>
            <a:ext cx="1051560" cy="457200"/>
          </a:xfrm>
          <a:prstGeom prst="roundRect">
            <a:avLst>
              <a:gd name="adj" fmla="val 16000"/>
            </a:avLst>
          </a:prstGeom>
          <a:solidFill>
            <a:srgbClr val="F4C54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68680" y="569671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2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2103120" y="5641848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1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 engine + stats + Groq + Gemini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2103120" y="5961888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E71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Pricing, R-01–R-09 detection, agentic review.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229600" y="1874520"/>
            <a:ext cx="3200400" cy="4398264"/>
          </a:xfrm>
          <a:prstGeom prst="roundRect">
            <a:avLst>
              <a:gd name="adj" fmla="val 4000"/>
            </a:avLst>
          </a:prstGeom>
          <a:solidFill>
            <a:srgbClr val="0B211B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549640" y="21488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C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HOLDS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549640" y="2697480"/>
            <a:ext cx="201168" cy="201168"/>
          </a:xfrm>
          <a:prstGeom prst="ellipse">
            <a:avLst/>
          </a:prstGeom>
          <a:solidFill>
            <a:srgbClr val="18B47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869680" y="2578608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Swappable interfaces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869680" y="2944368"/>
            <a:ext cx="2423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CFE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pricing → Groq agent with zero caller changes.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549640" y="3904488"/>
            <a:ext cx="201168" cy="201168"/>
          </a:xfrm>
          <a:prstGeom prst="ellipse">
            <a:avLst/>
          </a:prstGeom>
          <a:solidFill>
            <a:srgbClr val="18B47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869680" y="3785616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 off the client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8869680" y="4151376"/>
            <a:ext cx="2423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CFE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Anchoring &amp; keys never touch the browser.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549640" y="5111496"/>
            <a:ext cx="201168" cy="201168"/>
          </a:xfrm>
          <a:prstGeom prst="ellipse">
            <a:avLst/>
          </a:prstGeom>
          <a:solidFill>
            <a:srgbClr val="18B47E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869680" y="499262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Traceable to spec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8869680" y="5358384"/>
            <a:ext cx="2423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CFE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 / BC / SEC tags live in the code.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21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photons to a verified trade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17043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FE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writes to the same audited ledger — and ends on-chain.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58368" y="2148840"/>
            <a:ext cx="1673352" cy="2286000"/>
          </a:xfrm>
          <a:prstGeom prst="roundRect">
            <a:avLst>
              <a:gd name="adj" fmla="val 6557"/>
            </a:avLst>
          </a:prstGeom>
          <a:solidFill>
            <a:srgbClr val="10362C"/>
          </a:solidFill>
          <a:ln w="12700">
            <a:solidFill>
              <a:srgbClr val="0E7F5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5004" y="2404872"/>
            <a:ext cx="640080" cy="640080"/>
          </a:xfrm>
          <a:prstGeom prst="ellipse">
            <a:avLst/>
          </a:prstGeom>
          <a:solidFill>
            <a:srgbClr val="18B47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175004" y="24048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3172968"/>
            <a:ext cx="1490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Meter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3593592"/>
            <a:ext cx="1417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50" dirty="0">
                <a:solidFill>
                  <a:srgbClr val="CFE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 reading streamed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336292" y="3291840"/>
            <a:ext cx="109728" cy="0"/>
          </a:xfrm>
          <a:prstGeom prst="line">
            <a:avLst/>
          </a:prstGeom>
          <a:noFill/>
          <a:ln w="25400">
            <a:solidFill>
              <a:srgbClr val="F4C54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450592" y="2148840"/>
            <a:ext cx="1673352" cy="2286000"/>
          </a:xfrm>
          <a:prstGeom prst="roundRect">
            <a:avLst>
              <a:gd name="adj" fmla="val 6557"/>
            </a:avLst>
          </a:prstGeom>
          <a:solidFill>
            <a:srgbClr val="10362C"/>
          </a:solidFill>
          <a:ln w="12700">
            <a:solidFill>
              <a:srgbClr val="0E7F5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67228" y="2404872"/>
            <a:ext cx="640080" cy="640080"/>
          </a:xfrm>
          <a:prstGeom prst="ellipse">
            <a:avLst/>
          </a:prstGeom>
          <a:solidFill>
            <a:srgbClr val="18B47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967228" y="24048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542032" y="3172968"/>
            <a:ext cx="1490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2578608" y="3593592"/>
            <a:ext cx="1417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50" dirty="0">
                <a:solidFill>
                  <a:srgbClr val="CFE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on the §7.3 contract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28516" y="3291840"/>
            <a:ext cx="109728" cy="0"/>
          </a:xfrm>
          <a:prstGeom prst="line">
            <a:avLst/>
          </a:prstGeom>
          <a:noFill/>
          <a:ln w="25400">
            <a:solidFill>
              <a:srgbClr val="F4C54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242816" y="2148840"/>
            <a:ext cx="1673352" cy="2286000"/>
          </a:xfrm>
          <a:prstGeom prst="roundRect">
            <a:avLst>
              <a:gd name="adj" fmla="val 6557"/>
            </a:avLst>
          </a:prstGeom>
          <a:solidFill>
            <a:srgbClr val="10362C"/>
          </a:solidFill>
          <a:ln w="12700">
            <a:solidFill>
              <a:srgbClr val="0E7F5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59452" y="2404872"/>
            <a:ext cx="640080" cy="640080"/>
          </a:xfrm>
          <a:prstGeom prst="ellipse">
            <a:avLst/>
          </a:prstGeom>
          <a:solidFill>
            <a:srgbClr val="18B47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9452" y="24048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334256" y="3172968"/>
            <a:ext cx="1490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4370832" y="3593592"/>
            <a:ext cx="1417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50" dirty="0">
                <a:solidFill>
                  <a:srgbClr val="CFE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clearing per feeder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920740" y="3291840"/>
            <a:ext cx="109728" cy="0"/>
          </a:xfrm>
          <a:prstGeom prst="line">
            <a:avLst/>
          </a:prstGeom>
          <a:noFill/>
          <a:ln w="25400">
            <a:solidFill>
              <a:srgbClr val="F4C54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035040" y="2148840"/>
            <a:ext cx="1673352" cy="2286000"/>
          </a:xfrm>
          <a:prstGeom prst="roundRect">
            <a:avLst>
              <a:gd name="adj" fmla="val 6557"/>
            </a:avLst>
          </a:prstGeom>
          <a:solidFill>
            <a:srgbClr val="10362C"/>
          </a:solidFill>
          <a:ln w="12700">
            <a:solidFill>
              <a:srgbClr val="0E7F5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1676" y="2404872"/>
            <a:ext cx="640080" cy="640080"/>
          </a:xfrm>
          <a:prstGeom prst="ellipse">
            <a:avLst/>
          </a:prstGeom>
          <a:solidFill>
            <a:srgbClr val="18B47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51676" y="24048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126480" y="3172968"/>
            <a:ext cx="1490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6163056" y="3593592"/>
            <a:ext cx="1417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50" dirty="0">
                <a:solidFill>
                  <a:srgbClr val="CFE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book settles in credits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12964" y="3291840"/>
            <a:ext cx="109728" cy="0"/>
          </a:xfrm>
          <a:prstGeom prst="line">
            <a:avLst/>
          </a:prstGeom>
          <a:noFill/>
          <a:ln w="25400">
            <a:solidFill>
              <a:srgbClr val="F4C54A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827264" y="2148840"/>
            <a:ext cx="1673352" cy="2286000"/>
          </a:xfrm>
          <a:prstGeom prst="roundRect">
            <a:avLst>
              <a:gd name="adj" fmla="val 6557"/>
            </a:avLst>
          </a:prstGeom>
          <a:solidFill>
            <a:srgbClr val="10362C"/>
          </a:solidFill>
          <a:ln w="12700">
            <a:solidFill>
              <a:srgbClr val="0E7F5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43900" y="2404872"/>
            <a:ext cx="640080" cy="640080"/>
          </a:xfrm>
          <a:prstGeom prst="ellipse">
            <a:avLst/>
          </a:prstGeom>
          <a:solidFill>
            <a:srgbClr val="18B47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343900" y="24048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918704" y="3172968"/>
            <a:ext cx="1490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Issue REC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7955280" y="3593592"/>
            <a:ext cx="1417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50" dirty="0">
                <a:solidFill>
                  <a:srgbClr val="CFE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Backed by reserved readings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9505188" y="3291840"/>
            <a:ext cx="109728" cy="0"/>
          </a:xfrm>
          <a:prstGeom prst="line">
            <a:avLst/>
          </a:prstGeom>
          <a:noFill/>
          <a:ln w="25400">
            <a:solidFill>
              <a:srgbClr val="F4C54A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9619488" y="2148840"/>
            <a:ext cx="1673352" cy="2286000"/>
          </a:xfrm>
          <a:prstGeom prst="roundRect">
            <a:avLst>
              <a:gd name="adj" fmla="val 6557"/>
            </a:avLst>
          </a:prstGeom>
          <a:solidFill>
            <a:srgbClr val="10362C"/>
          </a:solidFill>
          <a:ln w="12700">
            <a:solidFill>
              <a:srgbClr val="0E7F5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136124" y="2404872"/>
            <a:ext cx="640080" cy="640080"/>
          </a:xfrm>
          <a:prstGeom prst="ellipse">
            <a:avLst/>
          </a:prstGeom>
          <a:solidFill>
            <a:srgbClr val="F4C54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0136124" y="24048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21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9710928" y="3172968"/>
            <a:ext cx="1490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Anchor</a:t>
            </a:r>
            <a:endParaRPr lang="en-US" sz="1700" dirty="0"/>
          </a:p>
        </p:txBody>
      </p:sp>
      <p:sp>
        <p:nvSpPr>
          <p:cNvPr id="38" name="Text 36"/>
          <p:cNvSpPr txBox="1"/>
          <p:nvPr/>
        </p:nvSpPr>
        <p:spPr>
          <a:xfrm>
            <a:off x="9747504" y="3593592"/>
            <a:ext cx="1417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50" dirty="0">
                <a:solidFill>
                  <a:srgbClr val="CFE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hash on Polygon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58368" y="4892040"/>
            <a:ext cx="10844784" cy="1234440"/>
          </a:xfrm>
          <a:prstGeom prst="roundRect">
            <a:avLst>
              <a:gd name="adj" fmla="val 8889"/>
            </a:avLst>
          </a:prstGeom>
          <a:solidFill>
            <a:srgbClr val="10362C"/>
          </a:solidFill>
          <a:ln/>
        </p:spPr>
      </p:sp>
      <p:sp>
        <p:nvSpPr>
          <p:cNvPr id="40" name="Shape 38"/>
          <p:cNvSpPr/>
          <p:nvPr/>
        </p:nvSpPr>
        <p:spPr>
          <a:xfrm>
            <a:off x="1051560" y="5230368"/>
            <a:ext cx="548640" cy="548640"/>
          </a:xfrm>
          <a:prstGeom prst="ellipse">
            <a:avLst/>
          </a:prstGeom>
          <a:solidFill>
            <a:srgbClr val="18B47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051560" y="52303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42" name="Text 40"/>
          <p:cNvSpPr txBox="1"/>
          <p:nvPr/>
        </p:nvSpPr>
        <p:spPr>
          <a:xfrm>
            <a:off x="1764792" y="519379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Append-only audit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1764792" y="5541264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FE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logged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617720" y="5230368"/>
            <a:ext cx="548640" cy="548640"/>
          </a:xfrm>
          <a:prstGeom prst="ellipse">
            <a:avLst/>
          </a:prstGeom>
          <a:solidFill>
            <a:srgbClr val="18B47E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617720" y="52303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46" name="Text 44"/>
          <p:cNvSpPr txBox="1"/>
          <p:nvPr/>
        </p:nvSpPr>
        <p:spPr>
          <a:xfrm>
            <a:off x="5330952" y="519379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RBAC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5330952" y="5541264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FE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roles, scoped APIs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8183880" y="5230368"/>
            <a:ext cx="548640" cy="548640"/>
          </a:xfrm>
          <a:prstGeom prst="ellipse">
            <a:avLst/>
          </a:prstGeom>
          <a:solidFill>
            <a:srgbClr val="18B47E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183880" y="52303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50" name="Text 48"/>
          <p:cNvSpPr txBox="1"/>
          <p:nvPr/>
        </p:nvSpPr>
        <p:spPr>
          <a:xfrm>
            <a:off x="8897112" y="519379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Anomaly armed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8897112" y="5541264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FE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faults raise alerts live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1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Intelligence, layered for trust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17043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E71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rules first; statistics and AI add depth without becoming the single point of failure.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4572000" cy="1965960"/>
          </a:xfrm>
          <a:prstGeom prst="roundRect">
            <a:avLst>
              <a:gd name="adj" fmla="val 6512"/>
            </a:avLst>
          </a:prstGeom>
          <a:solidFill>
            <a:srgbClr val="0B211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21031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4C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PRICING · §9.1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46888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i="1" dirty="0">
                <a:solidFill>
                  <a:srgbClr val="18B4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</a:t>
            </a: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clamp( base · (1 + α(D/S − 1) + β·c),  floor, ceiling 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246120"/>
            <a:ext cx="4160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CFE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Supply/demand ratio and feeder congestion move the clearing price — bounded by the FiT floor and retail ceiling.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20" y="4023360"/>
            <a:ext cx="4572000" cy="233172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1EA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4224528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E7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PASSES (optional, with fallbacks)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005840" y="4645152"/>
            <a:ext cx="219456" cy="219456"/>
          </a:xfrm>
          <a:prstGeom prst="ellipse">
            <a:avLst/>
          </a:prstGeom>
          <a:solidFill>
            <a:srgbClr val="F4C5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25880" y="452628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1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AI review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4873752"/>
            <a:ext cx="3886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5E71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fraud triage + per-REC evidence check on un-anchored certs.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005840" y="5468112"/>
            <a:ext cx="219456" cy="219456"/>
          </a:xfrm>
          <a:prstGeom prst="ellipse">
            <a:avLst/>
          </a:prstGeom>
          <a:solidFill>
            <a:srgbClr val="F4C5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325880" y="534924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1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recommendations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5696712"/>
            <a:ext cx="3886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5E71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Feeder-congestion priority actions; deterministic rank if no key.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623560" y="1874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RULES · R-01 → R-09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23560" y="2286000"/>
            <a:ext cx="1847088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E1EAE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751576" y="2414016"/>
            <a:ext cx="1591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E7F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R-01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5751576" y="2798064"/>
            <a:ext cx="15910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5E71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&gt; metered export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580376" y="2286000"/>
            <a:ext cx="1847088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E1EAE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08392" y="2414016"/>
            <a:ext cx="1591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E7F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R-02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708392" y="2798064"/>
            <a:ext cx="15910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5E71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backing window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537192" y="2286000"/>
            <a:ext cx="1847088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E1EAE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665208" y="2414016"/>
            <a:ext cx="1591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E7F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R-03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9665208" y="2798064"/>
            <a:ext cx="15910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5E71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physical capacity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23560" y="3566160"/>
            <a:ext cx="1847088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E1EAE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751576" y="3694176"/>
            <a:ext cx="1591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E7F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R-04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5751576" y="4078224"/>
            <a:ext cx="15910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5E71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while offline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580376" y="3566160"/>
            <a:ext cx="1847088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E1EAE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08392" y="3694176"/>
            <a:ext cx="1591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E7F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R-05</a:t>
            </a:r>
            <a:endParaRPr lang="en-US" sz="1700" dirty="0"/>
          </a:p>
        </p:txBody>
      </p:sp>
      <p:sp>
        <p:nvSpPr>
          <p:cNvPr id="31" name="Text 29"/>
          <p:cNvSpPr txBox="1"/>
          <p:nvPr/>
        </p:nvSpPr>
        <p:spPr>
          <a:xfrm>
            <a:off x="7708392" y="4078224"/>
            <a:ext cx="15910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5E71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 at night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9537192" y="3566160"/>
            <a:ext cx="1847088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E1EAE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665208" y="3694176"/>
            <a:ext cx="1591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E7F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R-06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665208" y="4078224"/>
            <a:ext cx="15910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5E71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≠ backing sum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623560" y="4846320"/>
            <a:ext cx="1847088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E1EAE5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751576" y="4974336"/>
            <a:ext cx="1591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E7F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R-07</a:t>
            </a:r>
            <a:endParaRPr lang="en-US" sz="1700" dirty="0"/>
          </a:p>
        </p:txBody>
      </p:sp>
      <p:sp>
        <p:nvSpPr>
          <p:cNvPr id="37" name="Text 35"/>
          <p:cNvSpPr txBox="1"/>
          <p:nvPr/>
        </p:nvSpPr>
        <p:spPr>
          <a:xfrm>
            <a:off x="5751576" y="5358384"/>
            <a:ext cx="15910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5E71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Abnormal issuance rate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7580376" y="4846320"/>
            <a:ext cx="1847088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E1EAE5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708392" y="4974336"/>
            <a:ext cx="1591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E7F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R-08</a:t>
            </a:r>
            <a:endParaRPr lang="en-US" sz="1700" dirty="0"/>
          </a:p>
        </p:txBody>
      </p:sp>
      <p:sp>
        <p:nvSpPr>
          <p:cNvPr id="40" name="Text 38"/>
          <p:cNvSpPr txBox="1"/>
          <p:nvPr/>
        </p:nvSpPr>
        <p:spPr>
          <a:xfrm>
            <a:off x="7708392" y="5358384"/>
            <a:ext cx="15910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5E71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across feeders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9537192" y="4846320"/>
            <a:ext cx="1847088" cy="1170432"/>
          </a:xfrm>
          <a:prstGeom prst="roundRect">
            <a:avLst>
              <a:gd name="adj" fmla="val 7813"/>
            </a:avLst>
          </a:prstGeom>
          <a:solidFill>
            <a:srgbClr val="10362C"/>
          </a:solidFill>
          <a:ln w="12700">
            <a:solidFill>
              <a:srgbClr val="18B47E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5208" y="4974336"/>
            <a:ext cx="1591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4C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R-09</a:t>
            </a:r>
            <a:endParaRPr lang="en-US" sz="1700" dirty="0"/>
          </a:p>
        </p:txBody>
      </p:sp>
      <p:sp>
        <p:nvSpPr>
          <p:cNvPr id="43" name="Text 41"/>
          <p:cNvSpPr txBox="1"/>
          <p:nvPr/>
        </p:nvSpPr>
        <p:spPr>
          <a:xfrm>
            <a:off x="9665208" y="5358384"/>
            <a:ext cx="15910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CFE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z-score outlier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1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roles, one ledger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17043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E71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scopes every API — each actor sees only what their job needs, on its own dashboard.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3493008" cy="1572768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E1EAE5"/>
            </a:solidFill>
            <a:prstDash val="solid"/>
          </a:ln>
          <a:effectLst>
            <a:outerShdw blurRad="76200" dist="25400" dir="5400000" algn="bl" rotWithShape="0">
              <a:srgbClr val="9CB3AA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249424"/>
            <a:ext cx="868680" cy="868680"/>
          </a:xfrm>
          <a:prstGeom prst="ellipse">
            <a:avLst/>
          </a:prstGeom>
          <a:solidFill>
            <a:srgbClr val="18B47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2249424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2029968" y="2212848"/>
            <a:ext cx="20299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E1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Prosumer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2029968" y="2670048"/>
            <a:ext cx="202996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5E71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 midday surplus, requests RECs, owns bidirectional meters.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07408" y="1920240"/>
            <a:ext cx="3493008" cy="1572768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E1EAE5"/>
            </a:solidFill>
            <a:prstDash val="solid"/>
          </a:ln>
          <a:effectLst>
            <a:outerShdw blurRad="76200" dist="25400" dir="5400000" algn="bl" rotWithShape="0">
              <a:srgbClr val="9CB3AA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81728" y="2249424"/>
            <a:ext cx="868680" cy="868680"/>
          </a:xfrm>
          <a:prstGeom prst="ellipse">
            <a:avLst/>
          </a:prstGeom>
          <a:solidFill>
            <a:srgbClr val="0E7F5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81728" y="2249424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5705856" y="2212848"/>
            <a:ext cx="20299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E1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Consumer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705856" y="2670048"/>
            <a:ext cx="202996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5E71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Places bids and buys energy, settled in credits.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83296" y="1920240"/>
            <a:ext cx="3493008" cy="1572768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E1EAE5"/>
            </a:solidFill>
            <a:prstDash val="solid"/>
          </a:ln>
          <a:effectLst>
            <a:outerShdw blurRad="76200" dist="25400" dir="5400000" algn="bl" rotWithShape="0">
              <a:srgbClr val="9CB3AA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57616" y="2249424"/>
            <a:ext cx="868680" cy="868680"/>
          </a:xfrm>
          <a:prstGeom prst="ellipse">
            <a:avLst/>
          </a:prstGeom>
          <a:solidFill>
            <a:srgbClr val="1C8F8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57616" y="2249424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9381744" y="2212848"/>
            <a:ext cx="20299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E1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Utility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381744" y="2670048"/>
            <a:ext cx="202996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5E71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Watches feeder load &amp; congestion; gets AI priority actions.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31520" y="3694176"/>
            <a:ext cx="3493008" cy="1572768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E1EAE5"/>
            </a:solidFill>
            <a:prstDash val="solid"/>
          </a:ln>
          <a:effectLst>
            <a:outerShdw blurRad="76200" dist="25400" dir="5400000" algn="bl" rotWithShape="0">
              <a:srgbClr val="9CB3AA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005840" y="4023360"/>
            <a:ext cx="868680" cy="868680"/>
          </a:xfrm>
          <a:prstGeom prst="ellipse">
            <a:avLst/>
          </a:prstGeom>
          <a:solidFill>
            <a:srgbClr val="C77D2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05840" y="40233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2029968" y="3986784"/>
            <a:ext cx="20299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E1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Regulator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2029968" y="4443984"/>
            <a:ext cx="202996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5E71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Triages fraud alerts and revokes fraudulent RECs.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407408" y="3694176"/>
            <a:ext cx="3493008" cy="1572768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E1EAE5"/>
            </a:solidFill>
            <a:prstDash val="solid"/>
          </a:ln>
          <a:effectLst>
            <a:outerShdw blurRad="76200" dist="25400" dir="5400000" algn="bl" rotWithShape="0">
              <a:srgbClr val="9CB3AA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81728" y="4023360"/>
            <a:ext cx="868680" cy="868680"/>
          </a:xfrm>
          <a:prstGeom prst="ellipse">
            <a:avLst/>
          </a:prstGeom>
          <a:solidFill>
            <a:srgbClr val="3C7A5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81728" y="40233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5705856" y="3986784"/>
            <a:ext cx="20299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E1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Certificate Body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5705856" y="4443984"/>
            <a:ext cx="202996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5E71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 the issuance queue; runs per-REC evidence review.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083296" y="3694176"/>
            <a:ext cx="3493008" cy="1572768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E1EAE5"/>
            </a:solidFill>
            <a:prstDash val="solid"/>
          </a:ln>
          <a:effectLst>
            <a:outerShdw blurRad="76200" dist="25400" dir="5400000" algn="bl" rotWithShape="0">
              <a:srgbClr val="9CB3AA">
                <a:alpha val="3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357616" y="4023360"/>
            <a:ext cx="868680" cy="868680"/>
          </a:xfrm>
          <a:prstGeom prst="ellipse">
            <a:avLst/>
          </a:prstGeom>
          <a:solidFill>
            <a:srgbClr val="5B6E9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357616" y="40233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600" dirty="0"/>
          </a:p>
        </p:txBody>
      </p:sp>
      <p:sp>
        <p:nvSpPr>
          <p:cNvPr id="32" name="Text 30"/>
          <p:cNvSpPr txBox="1"/>
          <p:nvPr/>
        </p:nvSpPr>
        <p:spPr>
          <a:xfrm>
            <a:off x="9381744" y="3986784"/>
            <a:ext cx="20299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E1F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Auditor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9381744" y="4443984"/>
            <a:ext cx="202996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5E71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Verifies provenance against the chain; exports the audit log.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21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live demo, end to end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17043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FE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actions turn streamed meter data into settled trades, issued RECs, and a caught fraud.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234440" y="3794760"/>
            <a:ext cx="9646920" cy="0"/>
          </a:xfrm>
          <a:prstGeom prst="line">
            <a:avLst/>
          </a:prstGeom>
          <a:noFill/>
          <a:ln w="25400">
            <a:solidFill>
              <a:srgbClr val="0E7F5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05256" y="3465576"/>
            <a:ext cx="658368" cy="658368"/>
          </a:xfrm>
          <a:prstGeom prst="ellipse">
            <a:avLst/>
          </a:prstGeom>
          <a:solidFill>
            <a:srgbClr val="18B47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05256" y="346557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01752" y="1874520"/>
            <a:ext cx="1865376" cy="1417320"/>
          </a:xfrm>
          <a:prstGeom prst="roundRect">
            <a:avLst>
              <a:gd name="adj" fmla="val 6452"/>
            </a:avLst>
          </a:prstGeom>
          <a:solidFill>
            <a:srgbClr val="10362C"/>
          </a:solidFill>
          <a:ln w="12700">
            <a:solidFill>
              <a:srgbClr val="0E7F5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1480" y="2002536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8B4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Stream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29768" y="2386584"/>
            <a:ext cx="1609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100" dirty="0">
                <a:solidFill>
                  <a:srgbClr val="CFE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 meter — readings flow, feeder load &amp; congestion update.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234440" y="3291840"/>
            <a:ext cx="0" cy="173736"/>
          </a:xfrm>
          <a:prstGeom prst="line">
            <a:avLst/>
          </a:prstGeom>
          <a:noFill/>
          <a:ln w="19050">
            <a:solidFill>
              <a:srgbClr val="0E7F5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834640" y="3465576"/>
            <a:ext cx="658368" cy="658368"/>
          </a:xfrm>
          <a:prstGeom prst="ellipse">
            <a:avLst/>
          </a:prstGeom>
          <a:solidFill>
            <a:srgbClr val="18B47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834640" y="346557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231136" y="4315968"/>
            <a:ext cx="1865376" cy="1417320"/>
          </a:xfrm>
          <a:prstGeom prst="roundRect">
            <a:avLst>
              <a:gd name="adj" fmla="val 6452"/>
            </a:avLst>
          </a:prstGeom>
          <a:solidFill>
            <a:srgbClr val="10362C"/>
          </a:solidFill>
          <a:ln w="12700">
            <a:solidFill>
              <a:srgbClr val="0E7F5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340864" y="4443984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8B4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Offer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2359152" y="4828032"/>
            <a:ext cx="1609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100" dirty="0">
                <a:solidFill>
                  <a:srgbClr val="CFE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Prosumer lists midday surplus on the feeder order book.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163824" y="3946848"/>
            <a:ext cx="0" cy="369119"/>
          </a:xfrm>
          <a:prstGeom prst="line">
            <a:avLst/>
          </a:prstGeom>
          <a:noFill/>
          <a:ln w="19050">
            <a:solidFill>
              <a:srgbClr val="0E7F5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64024" y="3465576"/>
            <a:ext cx="658368" cy="658368"/>
          </a:xfrm>
          <a:prstGeom prst="ellipse">
            <a:avLst/>
          </a:prstGeom>
          <a:solidFill>
            <a:srgbClr val="18B47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64024" y="346557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160520" y="1874520"/>
            <a:ext cx="1865376" cy="1417320"/>
          </a:xfrm>
          <a:prstGeom prst="roundRect">
            <a:avLst>
              <a:gd name="adj" fmla="val 6452"/>
            </a:avLst>
          </a:prstGeom>
          <a:solidFill>
            <a:srgbClr val="10362C"/>
          </a:solidFill>
          <a:ln w="12700">
            <a:solidFill>
              <a:srgbClr val="0E7F5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270248" y="2002536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8B4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Settle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4288536" y="2386584"/>
            <a:ext cx="1609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100" dirty="0">
                <a:solidFill>
                  <a:srgbClr val="CFE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bids; matching clears trades in credits, each anchored.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93208" y="3291840"/>
            <a:ext cx="0" cy="173736"/>
          </a:xfrm>
          <a:prstGeom prst="line">
            <a:avLst/>
          </a:prstGeom>
          <a:noFill/>
          <a:ln w="19050">
            <a:solidFill>
              <a:srgbClr val="0E7F5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93408" y="3465576"/>
            <a:ext cx="658368" cy="658368"/>
          </a:xfrm>
          <a:prstGeom prst="ellipse">
            <a:avLst/>
          </a:prstGeom>
          <a:solidFill>
            <a:srgbClr val="18B47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93408" y="346557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089904" y="4315968"/>
            <a:ext cx="1865376" cy="1417320"/>
          </a:xfrm>
          <a:prstGeom prst="roundRect">
            <a:avLst>
              <a:gd name="adj" fmla="val 6452"/>
            </a:avLst>
          </a:prstGeom>
          <a:solidFill>
            <a:srgbClr val="10362C"/>
          </a:solidFill>
          <a:ln w="12700">
            <a:solidFill>
              <a:srgbClr val="0E7F5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199632" y="4443984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8B4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Issue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6217920" y="4828032"/>
            <a:ext cx="1609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100" dirty="0">
                <a:solidFill>
                  <a:srgbClr val="CFE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 requested, approved from the queue, issued &amp; anchored.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022592" y="3946848"/>
            <a:ext cx="0" cy="369120"/>
          </a:xfrm>
          <a:prstGeom prst="line">
            <a:avLst/>
          </a:prstGeom>
          <a:noFill/>
          <a:ln w="19050">
            <a:solidFill>
              <a:srgbClr val="0E7F5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22792" y="3465576"/>
            <a:ext cx="658368" cy="658368"/>
          </a:xfrm>
          <a:prstGeom prst="ellipse">
            <a:avLst/>
          </a:prstGeom>
          <a:solidFill>
            <a:srgbClr val="18B47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622792" y="346557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8019288" y="1874520"/>
            <a:ext cx="1865376" cy="1417320"/>
          </a:xfrm>
          <a:prstGeom prst="roundRect">
            <a:avLst>
              <a:gd name="adj" fmla="val 6452"/>
            </a:avLst>
          </a:prstGeom>
          <a:solidFill>
            <a:srgbClr val="10362C"/>
          </a:solidFill>
          <a:ln w="12700">
            <a:solidFill>
              <a:srgbClr val="0E7F5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129016" y="2002536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8B4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8147304" y="2386584"/>
            <a:ext cx="1609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100" dirty="0">
                <a:solidFill>
                  <a:srgbClr val="CFE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 a fault — R-01–R-09 rules raise a fraud alert live.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951976" y="3291840"/>
            <a:ext cx="0" cy="173736"/>
          </a:xfrm>
          <a:prstGeom prst="line">
            <a:avLst/>
          </a:prstGeom>
          <a:noFill/>
          <a:ln w="19050">
            <a:solidFill>
              <a:srgbClr val="0E7F5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552176" y="3465576"/>
            <a:ext cx="658368" cy="658368"/>
          </a:xfrm>
          <a:prstGeom prst="ellipse">
            <a:avLst/>
          </a:prstGeom>
          <a:solidFill>
            <a:srgbClr val="F4C54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0552176" y="346557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21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9948672" y="4315968"/>
            <a:ext cx="1865376" cy="1417320"/>
          </a:xfrm>
          <a:prstGeom prst="roundRect">
            <a:avLst>
              <a:gd name="adj" fmla="val 6452"/>
            </a:avLst>
          </a:prstGeom>
          <a:solidFill>
            <a:srgbClr val="10362C"/>
          </a:solidFill>
          <a:ln w="12700">
            <a:solidFill>
              <a:srgbClr val="0E7F5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0058400" y="4443984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4C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Verify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10076688" y="4828032"/>
            <a:ext cx="1609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100" dirty="0">
                <a:solidFill>
                  <a:srgbClr val="CFE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 revokes; auditor checks provenance on-chain.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10881360" y="3946848"/>
            <a:ext cx="0" cy="369120"/>
          </a:xfrm>
          <a:prstGeom prst="line">
            <a:avLst/>
          </a:prstGeom>
          <a:noFill/>
          <a:ln w="19050">
            <a:solidFill>
              <a:srgbClr val="0E7F5A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21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502920"/>
            <a:ext cx="1554480" cy="1554480"/>
          </a:xfrm>
          <a:prstGeom prst="ellipse">
            <a:avLst/>
          </a:prstGeom>
          <a:solidFill>
            <a:srgbClr val="0E7F5A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-91440"/>
            <a:ext cx="822960" cy="822960"/>
          </a:xfrm>
          <a:prstGeom prst="ellipse">
            <a:avLst/>
          </a:prstGeom>
          <a:solidFill>
            <a:srgbClr val="F4C54A"/>
          </a:solidFill>
          <a:ln/>
        </p:spPr>
      </p:sp>
      <p:sp>
        <p:nvSpPr>
          <p:cNvPr id="4" name="Shape 2"/>
          <p:cNvSpPr/>
          <p:nvPr/>
        </p:nvSpPr>
        <p:spPr>
          <a:xfrm>
            <a:off x="9555480" y="1463040"/>
            <a:ext cx="502920" cy="502920"/>
          </a:xfrm>
          <a:prstGeom prst="ellipse">
            <a:avLst/>
          </a:prstGeom>
          <a:solidFill>
            <a:srgbClr val="18B47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7315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wins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1481328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FE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isn't a feature bolted on — it's how the system is built.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77240" y="2286000"/>
            <a:ext cx="2514600" cy="2164702"/>
          </a:xfrm>
          <a:prstGeom prst="roundRect">
            <a:avLst>
              <a:gd name="adj" fmla="val 6222"/>
            </a:avLst>
          </a:prstGeom>
          <a:solidFill>
            <a:srgbClr val="10362C"/>
          </a:solidFill>
          <a:ln/>
        </p:spPr>
      </p:sp>
      <p:sp>
        <p:nvSpPr>
          <p:cNvPr id="8" name="Shape 6"/>
          <p:cNvSpPr/>
          <p:nvPr/>
        </p:nvSpPr>
        <p:spPr>
          <a:xfrm>
            <a:off x="1033272" y="2542032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18B47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33272" y="254203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033272" y="3090672"/>
            <a:ext cx="2057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double-counting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33272" y="3767328"/>
            <a:ext cx="2057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CFE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kilowatt-hour is never sold or certified twice.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520440" y="2286000"/>
            <a:ext cx="2514600" cy="2164702"/>
          </a:xfrm>
          <a:prstGeom prst="roundRect">
            <a:avLst>
              <a:gd name="adj" fmla="val 6222"/>
            </a:avLst>
          </a:prstGeom>
          <a:solidFill>
            <a:srgbClr val="10362C"/>
          </a:solidFill>
          <a:ln/>
        </p:spPr>
      </p:sp>
      <p:sp>
        <p:nvSpPr>
          <p:cNvPr id="13" name="Shape 11"/>
          <p:cNvSpPr/>
          <p:nvPr/>
        </p:nvSpPr>
        <p:spPr>
          <a:xfrm>
            <a:off x="3776472" y="2542032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F4C5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776472" y="254203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0B2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776472" y="3090672"/>
            <a:ext cx="2057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Independently verifiable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3776472" y="3767328"/>
            <a:ext cx="2057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CFE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trade and certificate is anchored and provable by anyone.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63640" y="2286000"/>
            <a:ext cx="2514600" cy="2164702"/>
          </a:xfrm>
          <a:prstGeom prst="roundRect">
            <a:avLst>
              <a:gd name="adj" fmla="val 6222"/>
            </a:avLst>
          </a:prstGeom>
          <a:solidFill>
            <a:srgbClr val="10362C"/>
          </a:solidFill>
          <a:ln/>
        </p:spPr>
      </p:sp>
      <p:sp>
        <p:nvSpPr>
          <p:cNvPr id="18" name="Shape 16"/>
          <p:cNvSpPr/>
          <p:nvPr/>
        </p:nvSpPr>
        <p:spPr>
          <a:xfrm>
            <a:off x="6519672" y="2542032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1C8F8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19672" y="254203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19672" y="3090672"/>
            <a:ext cx="2057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Live, bounded pricing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519672" y="3767328"/>
            <a:ext cx="2057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CFE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Clearing prices track real supply, demand and grid stress.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006840" y="2286000"/>
            <a:ext cx="2514600" cy="2164702"/>
          </a:xfrm>
          <a:prstGeom prst="roundRect">
            <a:avLst>
              <a:gd name="adj" fmla="val 6222"/>
            </a:avLst>
          </a:prstGeom>
          <a:solidFill>
            <a:srgbClr val="10362C"/>
          </a:solidFill>
          <a:ln/>
        </p:spPr>
      </p:sp>
      <p:sp>
        <p:nvSpPr>
          <p:cNvPr id="23" name="Shape 21"/>
          <p:cNvSpPr/>
          <p:nvPr/>
        </p:nvSpPr>
        <p:spPr>
          <a:xfrm>
            <a:off x="9262872" y="2542032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5B8FE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262872" y="254203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OVERSIGHT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9262872" y="3090672"/>
            <a:ext cx="2057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Accountable by design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9262872" y="3767328"/>
            <a:ext cx="2057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CFE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access and an end-to-end trail from meter to market.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77240" y="4663440"/>
            <a:ext cx="10607040" cy="1463040"/>
          </a:xfrm>
          <a:prstGeom prst="roundRect">
            <a:avLst>
              <a:gd name="adj" fmla="val 8750"/>
            </a:avLst>
          </a:prstGeom>
          <a:solidFill>
            <a:srgbClr val="0E7F5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97280" y="4846320"/>
            <a:ext cx="9875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stack. One truth. Two markets that can't be gamed.</a:t>
            </a:r>
            <a:endParaRPr lang="en-US" sz="2500" dirty="0"/>
          </a:p>
        </p:txBody>
      </p:sp>
      <p:sp>
        <p:nvSpPr>
          <p:cNvPr id="29" name="Text 27"/>
          <p:cNvSpPr txBox="1"/>
          <p:nvPr/>
        </p:nvSpPr>
        <p:spPr>
          <a:xfrm>
            <a:off x="1097280" y="5504688"/>
            <a:ext cx="9692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FE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Metered solar, traded and certified — verifiable by anyone, over-claimed by no one.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968</Words>
  <Application>Microsoft Office PowerPoint</Application>
  <PresentationFormat>Widescreen</PresentationFormat>
  <Paragraphs>171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Bikram Sadhukhan</cp:lastModifiedBy>
  <cp:revision>7</cp:revision>
  <dcterms:created xsi:type="dcterms:W3CDTF">2026-09-13T04:39:28Z</dcterms:created>
  <dcterms:modified xsi:type="dcterms:W3CDTF">2026-09-13T04:44:18Z</dcterms:modified>
</cp:coreProperties>
</file>